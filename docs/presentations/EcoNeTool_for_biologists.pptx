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EcoNeTool is a free web application for building and analysing marine food webs, developed in the MARBEFES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Fluxes are computed with the fluxweb package (Gauzens et al. 2019, Methods in Ecology and Evolution). Metabolic losses follow X = exp(a·ln M + x0 − E/kT) with a = −0.29 and E = 0.69 eV; x0 depends on metabolic type. The efficiency values shown are the defaults used when efficiencies are estimated from functional groups (benthos 0.7).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E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EcoNeTool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B9E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species lists to food web insights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D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to the workflows for marine ecologists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MARBEFES · Horizon Europe  |  Klaipėda University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06440" y="1097280"/>
            <a:ext cx="2834640" cy="2834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MARBEF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904" y="1380744"/>
            <a:ext cx="2267712" cy="22677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E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EcoNeTool helps you answer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maps to one part of the app</a:t>
            </a:r>
            <a:endParaRPr lang="en-US" sz="1300" dirty="0"/>
          </a:p>
        </p:txBody>
      </p:sp>
      <p:pic>
        <p:nvPicPr>
          <p:cNvPr id="4" name="Image 0" descr="MARBEF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28600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258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3F2F3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481328"/>
            <a:ext cx="347472" cy="3474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143560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eats whom in my system?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Web Network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496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Draw, explore and edit the feeding links.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68980" y="13258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9FA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06140" y="1481328"/>
            <a:ext cx="347472" cy="34747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0614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863340" y="143560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my food web structured?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3451860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Metrics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3451860" y="2496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Connectance, trophic levels, omnivory.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80760" y="13258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3F2F3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0" y="1481328"/>
            <a:ext cx="347472" cy="347472"/>
          </a:xfrm>
          <a:prstGeom prst="ellipse">
            <a:avLst/>
          </a:prstGeom>
          <a:solidFill>
            <a:srgbClr val="173E6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21792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143560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energy go?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Fluxes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263640" y="2496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flow along every feeding link.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31089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9FA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4360" y="3264408"/>
            <a:ext cx="347472" cy="3474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94360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51560" y="32186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species hold the web together?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4005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Keystoneness Analysis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4279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with large effects for their biomass.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268980" y="31089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3F2F3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406140" y="3264408"/>
            <a:ext cx="347472" cy="34747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406140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863340" y="32186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only have a species list. Can I get a food web?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3451860" y="4005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Research → Food Web Construction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3451860" y="4279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inferred from species traits.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080760" y="31089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4F9FA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17920" y="3264408"/>
            <a:ext cx="347472" cy="347472"/>
          </a:xfrm>
          <a:prstGeom prst="ellipse">
            <a:avLst/>
          </a:prstGeom>
          <a:solidFill>
            <a:srgbClr val="173E6C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217920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675120" y="32186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food webs change across the seascape?</a:t>
            </a:r>
            <a:endParaRPr lang="en-US" sz="1250" dirty="0"/>
          </a:p>
        </p:txBody>
      </p:sp>
      <p:sp>
        <p:nvSpPr>
          <p:cNvPr id="39" name="Text 36"/>
          <p:cNvSpPr txBox="1"/>
          <p:nvPr/>
        </p:nvSpPr>
        <p:spPr>
          <a:xfrm>
            <a:off x="6263640" y="4005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Analysis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6263640" y="4279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food webs per habitat cell.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E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 in four steps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enter at step 1 or start straight from the built-in example</a:t>
            </a:r>
            <a:endParaRPr lang="en-US" sz="1300" dirty="0"/>
          </a:p>
        </p:txBody>
      </p:sp>
      <p:pic>
        <p:nvPicPr>
          <p:cNvPr id="4" name="Image 0" descr="MARBEF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28600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2588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F4F9FA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70432" y="146304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7043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food web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688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own data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 Ecopath model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regional metaweb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links from traits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350008" y="2624328"/>
            <a:ext cx="192024" cy="91"/>
          </a:xfrm>
          <a:prstGeom prst="line">
            <a:avLst/>
          </a:prstGeom>
          <a:noFill/>
          <a:ln w="2222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560320" y="132588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F4F9FA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73552" y="146304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27355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651760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and edit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697480" y="24688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species names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biomass and body size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links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453128" y="2624328"/>
            <a:ext cx="192024" cy="91"/>
          </a:xfrm>
          <a:prstGeom prst="line">
            <a:avLst/>
          </a:prstGeom>
          <a:noFill/>
          <a:ln w="2222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663440" y="132588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E3F2F3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76672" y="146304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37667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754880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800600" y="24688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structure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Trophic levels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flow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species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556248" y="2624328"/>
            <a:ext cx="192024" cy="91"/>
          </a:xfrm>
          <a:prstGeom prst="line">
            <a:avLst/>
          </a:prstGeom>
          <a:noFill/>
          <a:ln w="2222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766560" y="1325880"/>
            <a:ext cx="1874520" cy="2331720"/>
          </a:xfrm>
          <a:prstGeom prst="roundRect">
            <a:avLst>
              <a:gd name="adj" fmla="val 3902"/>
            </a:avLst>
          </a:prstGeom>
          <a:solidFill>
            <a:srgbClr val="F4F9FA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79792" y="146304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47979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and model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903720" y="24688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webs across habitats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Ecopath / Ecosim scenarios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result tables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12064" y="3931920"/>
            <a:ext cx="81198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Gulf of Riga food web is loaded when the app opens, so every tab can be tried before you upload anything.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E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get a food web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end in the same food web, so every analysis works the same way</a:t>
            </a:r>
            <a:endParaRPr lang="en-US" sz="1300" dirty="0"/>
          </a:p>
        </p:txBody>
      </p:sp>
      <p:pic>
        <p:nvPicPr>
          <p:cNvPr id="4" name="Image 0" descr="MARBEF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28600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25880"/>
            <a:ext cx="2834640" cy="713232"/>
          </a:xfrm>
          <a:prstGeom prst="roundRect">
            <a:avLst>
              <a:gd name="adj" fmla="val 10256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325880"/>
            <a:ext cx="27249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feeding-link table + species table (Excel, CSV, R)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91840" y="1682496"/>
            <a:ext cx="502920" cy="1335024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57200" y="2194560"/>
            <a:ext cx="2834640" cy="713232"/>
          </a:xfrm>
          <a:prstGeom prst="roundRect">
            <a:avLst>
              <a:gd name="adj" fmla="val 10256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" y="2194560"/>
            <a:ext cx="27249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Ecopath 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EwE model file, or a published model from EcoBase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2551176"/>
            <a:ext cx="502920" cy="466344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57200" y="3063240"/>
            <a:ext cx="2834640" cy="713232"/>
          </a:xfrm>
          <a:prstGeom prst="roundRect">
            <a:avLst>
              <a:gd name="adj" fmla="val 10256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12064" y="3063240"/>
            <a:ext cx="27249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regional metaweb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Baltic Sea, North Sea, Kongsfjorden, Barents Sea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 flipV="1">
            <a:off x="3291840" y="3017520"/>
            <a:ext cx="502920" cy="402336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57200" y="3931920"/>
            <a:ext cx="2834640" cy="713232"/>
          </a:xfrm>
          <a:prstGeom prst="roundRect">
            <a:avLst>
              <a:gd name="adj" fmla="val 10256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12064" y="3931920"/>
            <a:ext cx="27249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species list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traits looked up in databases, links inferred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 flipV="1">
            <a:off x="3291840" y="3017520"/>
            <a:ext cx="502920" cy="1271016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794760" y="2011680"/>
            <a:ext cx="2194560" cy="2011680"/>
          </a:xfrm>
          <a:prstGeom prst="roundRect">
            <a:avLst>
              <a:gd name="adj" fmla="val 4545"/>
            </a:avLst>
          </a:prstGeom>
          <a:solidFill>
            <a:srgbClr val="F2A54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388620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food web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3977640" y="26060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species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eats whom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biomass, body size, functional group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89320" y="3017520"/>
            <a:ext cx="457200" cy="91"/>
          </a:xfrm>
          <a:prstGeom prst="line">
            <a:avLst/>
          </a:prstGeom>
          <a:noFill/>
          <a:ln w="2222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446520" y="2240280"/>
            <a:ext cx="2240280" cy="1554480"/>
          </a:xfrm>
          <a:prstGeom prst="roundRect">
            <a:avLst>
              <a:gd name="adj" fmla="val 4706"/>
            </a:avLst>
          </a:prstGeom>
          <a:solidFill>
            <a:srgbClr val="173E6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501384" y="2240280"/>
            <a:ext cx="2130552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analysis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· trophic levels · energy flow · keystone species · spatial comparison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E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data look like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tables: who eats whom, and what each species is</a:t>
            </a:r>
            <a:endParaRPr lang="en-US" sz="1300" dirty="0"/>
          </a:p>
        </p:txBody>
      </p:sp>
      <p:pic>
        <p:nvPicPr>
          <p:cNvPr id="4" name="Image 0" descr="MARBEF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28600"/>
            <a:ext cx="566928" cy="5669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links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39319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576072"/>
                <a:gridCol w="576072"/>
                <a:gridCol w="576072"/>
                <a:gridCol w="576072"/>
                <a:gridCol w="5760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prey ↓   predator →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E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Phyto.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E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Zoopl.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E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E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E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E6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E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Phytoplankton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0A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0A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0A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0A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E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Zooplankton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0A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0A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E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0A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0A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0A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0A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E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0A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0A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0A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0A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E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0A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0A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0A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0A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0AE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3611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prey, columns are predators: a 1 in row A, column B means B eats A.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attributes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54480"/>
          <a:ext cx="3931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43000"/>
                <a:gridCol w="685800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E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group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E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E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mass (g)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E6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Phytoplankton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Phytoplankton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Zooplankton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Zooplankton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754880" y="3611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values. Energy-flux analysis also uses metabolic type and assimilation efficiency.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12064" y="4206240"/>
            <a:ext cx="81198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on upload:  names match in both tables  ·  the link table is square  ·  biomass &gt; 0  ·  efficiencies between 0 and 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E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food web: trophic levels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Baltic example, used on the next slides too</a:t>
            </a:r>
            <a:endParaRPr lang="en-US" sz="1300" dirty="0"/>
          </a:p>
        </p:txBody>
      </p:sp>
      <p:pic>
        <p:nvPicPr>
          <p:cNvPr id="4" name="Image 0" descr="MARBEF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28600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4434840"/>
            <a:ext cx="3611880" cy="91"/>
          </a:xfrm>
          <a:prstGeom prst="line">
            <a:avLst/>
          </a:prstGeom>
          <a:noFill/>
          <a:ln w="12700">
            <a:solidFill>
              <a:srgbClr val="D5E3E6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457200" y="43251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 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960120" y="3474720"/>
            <a:ext cx="3611880" cy="91"/>
          </a:xfrm>
          <a:prstGeom prst="line">
            <a:avLst/>
          </a:prstGeom>
          <a:noFill/>
          <a:ln w="12700">
            <a:solidFill>
              <a:srgbClr val="D5E3E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457200" y="33649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 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60120" y="2514600"/>
            <a:ext cx="3611880" cy="91"/>
          </a:xfrm>
          <a:prstGeom prst="line">
            <a:avLst/>
          </a:prstGeom>
          <a:noFill/>
          <a:ln w="12700">
            <a:solidFill>
              <a:srgbClr val="D5E3E6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457200" y="24048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 3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60120" y="1554480"/>
            <a:ext cx="3611880" cy="91"/>
          </a:xfrm>
          <a:prstGeom prst="line">
            <a:avLst/>
          </a:prstGeom>
          <a:noFill/>
          <a:ln w="12700">
            <a:solidFill>
              <a:srgbClr val="D5E3E6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457200" y="1444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 4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 flipV="1">
            <a:off x="2743200" y="3703320"/>
            <a:ext cx="91" cy="50292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 flipH="1" flipV="1">
            <a:off x="1828800" y="2743200"/>
            <a:ext cx="914400" cy="50292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 flipV="1">
            <a:off x="2743200" y="2743200"/>
            <a:ext cx="914400" cy="50292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 flipV="1">
            <a:off x="2743200" y="2099920"/>
            <a:ext cx="91" cy="114620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 flipV="1">
            <a:off x="1828800" y="2099920"/>
            <a:ext cx="594360" cy="18608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 flipH="1" flipV="1">
            <a:off x="3063240" y="2099920"/>
            <a:ext cx="594360" cy="18608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2121408" y="4206240"/>
            <a:ext cx="1243584" cy="457200"/>
          </a:xfrm>
          <a:prstGeom prst="roundRect">
            <a:avLst>
              <a:gd name="adj" fmla="val 50000"/>
            </a:avLst>
          </a:prstGeom>
          <a:solidFill>
            <a:srgbClr val="13A3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121408" y="42062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Phytoplankton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121408" y="3246120"/>
            <a:ext cx="1243584" cy="457200"/>
          </a:xfrm>
          <a:prstGeom prst="roundRect">
            <a:avLst>
              <a:gd name="adj" fmla="val 50000"/>
            </a:avLst>
          </a:prstGeom>
          <a:solidFill>
            <a:srgbClr val="13A3A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121408" y="32461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Zooplankton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207008" y="2286000"/>
            <a:ext cx="1243584" cy="4572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207008" y="22860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Herring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035808" y="2286000"/>
            <a:ext cx="1243584" cy="4572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035808" y="22860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Sprat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121408" y="1642720"/>
            <a:ext cx="1243584" cy="457200"/>
          </a:xfrm>
          <a:prstGeom prst="roundRect">
            <a:avLst>
              <a:gd name="adj" fmla="val 50000"/>
            </a:avLst>
          </a:prstGeom>
          <a:solidFill>
            <a:srgbClr val="173E6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121408" y="16427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· TL 3.67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120640" y="1325880"/>
            <a:ext cx="3566160" cy="603504"/>
          </a:xfrm>
          <a:prstGeom prst="roundRect">
            <a:avLst>
              <a:gd name="adj" fmla="val 12121"/>
            </a:avLst>
          </a:prstGeom>
          <a:solidFill>
            <a:srgbClr val="E3F2F3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257800" y="132588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point from prey to predator </a:t>
            </a:r>
            <a:pPr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in which energy moves.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120640" y="2057400"/>
            <a:ext cx="3566160" cy="603504"/>
          </a:xfrm>
          <a:prstGeom prst="roundRect">
            <a:avLst>
              <a:gd name="adj" fmla="val 12121"/>
            </a:avLst>
          </a:prstGeom>
          <a:solidFill>
            <a:srgbClr val="E3F2F3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257800" y="205740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and detritus </a:t>
            </a:r>
            <a:pPr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at trophic level 1.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120640" y="2788920"/>
            <a:ext cx="3566160" cy="603504"/>
          </a:xfrm>
          <a:prstGeom prst="roundRect">
            <a:avLst>
              <a:gd name="adj" fmla="val 12121"/>
            </a:avLst>
          </a:prstGeom>
          <a:solidFill>
            <a:srgbClr val="E3F2F3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257800" y="278892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consumer </a:t>
            </a:r>
            <a:pPr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one level above the average of its prey.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120640" y="36118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2A541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175504" y="3611880"/>
            <a:ext cx="3456432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eats herring (TL 3), sprat (TL 3) and zooplankton (TL 2):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 = 1 + (3 + 3 + 2) / 3 = 3.67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E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the web structured?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Metrics for the example food web</a:t>
            </a:r>
            <a:endParaRPr lang="en-US" sz="1300" dirty="0"/>
          </a:p>
        </p:txBody>
      </p:sp>
      <p:pic>
        <p:nvPicPr>
          <p:cNvPr id="4" name="Image 0" descr="MARBEF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28600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4F9FA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325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(S)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0320" y="12801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4F9FA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26517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links (L)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3F2F3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1325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connectance = L / S(S − 1)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12801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4F9FA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66560" y="1325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0.58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omnivory of cod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816352"/>
            <a:ext cx="256032" cy="25603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6868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Connectance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68680" y="304495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 of all possible feeding links that actually occur. Higher values mean a more interconnected web.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663440" y="2816352"/>
            <a:ext cx="256032" cy="256032"/>
          </a:xfrm>
          <a:prstGeom prst="ellipse">
            <a:avLst/>
          </a:prstGeom>
          <a:solidFill>
            <a:srgbClr val="13A3A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7492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Generality and vulnerability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074920" y="304495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number of prey per predator (diet breadth) and of predators per prey (predation pressure).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3803904"/>
            <a:ext cx="256032" cy="25603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68680" y="3730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Omnivory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868680" y="403250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widely a predator's prey spread across trophic levels. Cod's prey sit at levels 3, 3 and 2.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663440" y="3803904"/>
            <a:ext cx="256032" cy="256032"/>
          </a:xfrm>
          <a:prstGeom prst="ellipse">
            <a:avLst/>
          </a:prstGeom>
          <a:solidFill>
            <a:srgbClr val="173E6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074920" y="3730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versions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5074920" y="403250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Biomass- and flux-weighted indicators give abundant species and strong links more influence.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E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energy go?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Fluxes: a steady-state energy budget for every species (fluxweb)</a:t>
            </a:r>
            <a:endParaRPr lang="en-US" sz="1300" dirty="0"/>
          </a:p>
        </p:txBody>
      </p:sp>
      <p:pic>
        <p:nvPicPr>
          <p:cNvPr id="4" name="Image 0" descr="MARBEF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28600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0" y="1325880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173E6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2066544" y="1325880"/>
            <a:ext cx="13533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predator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011680" y="260604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2066544" y="2606040"/>
            <a:ext cx="13533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Herring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species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011680" y="4023360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066544" y="4023360"/>
            <a:ext cx="13533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Zooplankton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 flipV="1">
            <a:off x="2743200" y="3337560"/>
            <a:ext cx="91" cy="68580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651760" y="35890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eaten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 flipV="1">
            <a:off x="2743200" y="1920240"/>
            <a:ext cx="91" cy="68580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2880360" y="21717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eaten by predators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74720" y="2971800"/>
            <a:ext cx="502920" cy="91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977640" y="2606040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BE3DC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32504" y="2606040"/>
            <a:ext cx="121615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losses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respiration, from body mass and temperature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 flipH="1">
            <a:off x="1600200" y="2971800"/>
            <a:ext cx="411480" cy="91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57200" y="260604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FBE3DC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12064" y="2606040"/>
            <a:ext cx="10332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assimilated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efficiency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577840" y="132588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2A54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632704" y="1325880"/>
            <a:ext cx="299923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for each species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assimilated = metabolic losses + energy taken by predators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577840" y="233172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F4F9FA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715000" y="2404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calculation uses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715000" y="269748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 of every species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mass and temperature → metabolic rate (metabolic theory of ecology)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type: invertebrate, ectotherm or endotherm vertebrate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Assimilation efficiency by prey: plants 0.4 · zooplankton 0.75 · fish 0.85 · detritus 0.2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577840" y="420624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73E6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632704" y="4206240"/>
            <a:ext cx="299923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energy flux along every feeding link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E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species hold the web together?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Keystoneness Analysis: large effects relative to biomass</a:t>
            </a:r>
            <a:endParaRPr lang="en-US" sz="1300" dirty="0"/>
          </a:p>
        </p:txBody>
      </p:sp>
      <p:pic>
        <p:nvPicPr>
          <p:cNvPr id="4" name="Image 0" descr="MARBEF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28600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0" y="1371600"/>
            <a:ext cx="1005840" cy="1005840"/>
          </a:xfrm>
          <a:prstGeom prst="rect">
            <a:avLst/>
          </a:prstGeom>
          <a:solidFill>
            <a:srgbClr val="FCE6C4"/>
          </a:solidFill>
          <a:ln/>
        </p:spPr>
      </p:sp>
      <p:sp>
        <p:nvSpPr>
          <p:cNvPr id="6" name="Shape 3"/>
          <p:cNvSpPr/>
          <p:nvPr/>
        </p:nvSpPr>
        <p:spPr>
          <a:xfrm>
            <a:off x="2011680" y="1371600"/>
            <a:ext cx="2651760" cy="1005840"/>
          </a:xfrm>
          <a:prstGeom prst="rect">
            <a:avLst/>
          </a:prstGeom>
          <a:solidFill>
            <a:srgbClr val="E3F2F3"/>
          </a:solidFill>
          <a:ln/>
        </p:spPr>
      </p:sp>
      <p:sp>
        <p:nvSpPr>
          <p:cNvPr id="7" name="Shape 4"/>
          <p:cNvSpPr/>
          <p:nvPr/>
        </p:nvSpPr>
        <p:spPr>
          <a:xfrm>
            <a:off x="1005840" y="2377440"/>
            <a:ext cx="3657600" cy="1874520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78992" y="1444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2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2103120" y="1444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3931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 flipV="1">
            <a:off x="1005840" y="1325880"/>
            <a:ext cx="91" cy="2926080"/>
          </a:xfrm>
          <a:prstGeom prst="line">
            <a:avLst/>
          </a:prstGeom>
          <a:noFill/>
          <a:ln w="15875">
            <a:solidFill>
              <a:srgbClr val="1B2A36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005840" y="4251960"/>
            <a:ext cx="3703320" cy="91"/>
          </a:xfrm>
          <a:prstGeom prst="line">
            <a:avLst/>
          </a:prstGeom>
          <a:noFill/>
          <a:ln w="15875">
            <a:solidFill>
              <a:srgbClr val="1B2A3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1005840" y="2377440"/>
            <a:ext cx="3657600" cy="91"/>
          </a:xfrm>
          <a:prstGeom prst="line">
            <a:avLst/>
          </a:prstGeom>
          <a:noFill/>
          <a:ln w="12700">
            <a:solidFill>
              <a:srgbClr val="5B6B78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2011680" y="1371600"/>
            <a:ext cx="91" cy="1005840"/>
          </a:xfrm>
          <a:prstGeom prst="line">
            <a:avLst/>
          </a:prstGeom>
          <a:noFill/>
          <a:ln w="12700">
            <a:solidFill>
              <a:srgbClr val="5B6B78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289304" y="1700784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09344" y="1975104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35224" y="1609344"/>
            <a:ext cx="164592" cy="16459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41064" y="1929384"/>
            <a:ext cx="164592" cy="16459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380744" y="3026664"/>
            <a:ext cx="164592" cy="164592"/>
          </a:xfrm>
          <a:prstGeom prst="ellipse">
            <a:avLst/>
          </a:prstGeom>
          <a:solidFill>
            <a:srgbClr val="7A8C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295144" y="2660904"/>
            <a:ext cx="164592" cy="164592"/>
          </a:xfrm>
          <a:prstGeom prst="ellipse">
            <a:avLst/>
          </a:prstGeom>
          <a:solidFill>
            <a:srgbClr val="7A8C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843784" y="3483864"/>
            <a:ext cx="164592" cy="164592"/>
          </a:xfrm>
          <a:prstGeom prst="ellipse">
            <a:avLst/>
          </a:prstGeom>
          <a:solidFill>
            <a:srgbClr val="7A8C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66744" y="2935224"/>
            <a:ext cx="164592" cy="164592"/>
          </a:xfrm>
          <a:prstGeom prst="ellipse">
            <a:avLst/>
          </a:prstGeom>
          <a:solidFill>
            <a:srgbClr val="7A8C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837944" y="3758184"/>
            <a:ext cx="164592" cy="164592"/>
          </a:xfrm>
          <a:prstGeom prst="ellipse">
            <a:avLst/>
          </a:prstGeom>
          <a:solidFill>
            <a:srgbClr val="7A8C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23944" y="3575304"/>
            <a:ext cx="164592" cy="164592"/>
          </a:xfrm>
          <a:prstGeom prst="ellipse">
            <a:avLst/>
          </a:prstGeom>
          <a:solidFill>
            <a:srgbClr val="7A8C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5840" y="4325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biomass →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783080" y="43251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 rot="16200000">
            <a:off x="9144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keystoneness →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3977640" y="24048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25 %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120640" y="1399032"/>
            <a:ext cx="347472" cy="3474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120640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577840" y="13258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trophic impact: how a small increase in one species changes every other species, directly and through the web.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120640" y="2176272"/>
            <a:ext cx="347472" cy="3474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120640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577840" y="21031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effect ε: the combined size of those impacts on all other species.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120640" y="2953512"/>
            <a:ext cx="347472" cy="3474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120640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577840" y="288036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Keystoneness = log10[ε × (1 − relative biomass)]: a large effect for a small share of biomass scores high.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5120640" y="3730752"/>
            <a:ext cx="347472" cy="34747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120640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5577840" y="365760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25 % of keystoneness: Keystone if the species has under 5 % of total biomass, otherwise Dominant.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5120640" y="4526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Libralato et al. (2006) Ecological Modelling · Ulanowicz &amp; Puccia (1990) Coenoses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E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species list to a food web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Research and Food Web Construction</a:t>
            </a:r>
            <a:endParaRPr lang="en-US" sz="1300" dirty="0"/>
          </a:p>
        </p:txBody>
      </p:sp>
      <p:pic>
        <p:nvPicPr>
          <p:cNvPr id="4" name="Image 0" descr="MARBEF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28600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12064" y="1280160"/>
            <a:ext cx="11247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list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taxa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691640" y="1645920"/>
            <a:ext cx="164592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856232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911096" y="1280160"/>
            <a:ext cx="11247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check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WoRMS taxonomy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90672" y="1645920"/>
            <a:ext cx="164592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255264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310128" y="1280160"/>
            <a:ext cx="11247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lookup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chosen by taxon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89704" y="1645920"/>
            <a:ext cx="164592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654296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709160" y="1280160"/>
            <a:ext cx="11247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traits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species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88736" y="1645920"/>
            <a:ext cx="164592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053328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F2A54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108192" y="1280160"/>
            <a:ext cx="11247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rules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pairs → probability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287768" y="1645920"/>
            <a:ext cx="164592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452360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173E6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507224" y="1280160"/>
            <a:ext cx="11247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web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above threshold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2240280"/>
            <a:ext cx="1517904" cy="1463040"/>
          </a:xfrm>
          <a:prstGeom prst="roundRect">
            <a:avLst>
              <a:gd name="adj" fmla="val 5000"/>
            </a:avLst>
          </a:prstGeom>
          <a:solidFill>
            <a:srgbClr val="E3F2F3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66928" y="23317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size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606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MS1 – MS7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288036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prey a size this predator can handle?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139696" y="2240280"/>
            <a:ext cx="1517904" cy="1463040"/>
          </a:xfrm>
          <a:prstGeom prst="roundRect">
            <a:avLst>
              <a:gd name="adj" fmla="val 5000"/>
            </a:avLst>
          </a:prstGeom>
          <a:solidFill>
            <a:srgbClr val="F4F9FA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249424" y="23317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mode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2249424" y="2606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FS0 – FS7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2249424" y="288036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filter feeder, grazer or hunter take prey of this size?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822192" y="2240280"/>
            <a:ext cx="1517904" cy="1463040"/>
          </a:xfrm>
          <a:prstGeom prst="roundRect">
            <a:avLst>
              <a:gd name="adj" fmla="val 5000"/>
            </a:avLst>
          </a:prstGeom>
          <a:solidFill>
            <a:srgbClr val="E3F2F3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931920" y="23317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931920" y="2606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MB1 – MB5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3931920" y="288036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predator keep up with prey that drifts, crawls or swims?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504688" y="2240280"/>
            <a:ext cx="1517904" cy="1463040"/>
          </a:xfrm>
          <a:prstGeom prst="roundRect">
            <a:avLst>
              <a:gd name="adj" fmla="val 5000"/>
            </a:avLst>
          </a:prstGeom>
          <a:solidFill>
            <a:srgbClr val="F4F9FA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614416" y="23317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position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614416" y="2606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EP1 – EP4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5614416" y="288036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column, near the bottom, on or in the sediment: do they meet?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187184" y="2240280"/>
            <a:ext cx="1517904" cy="1463040"/>
          </a:xfrm>
          <a:prstGeom prst="roundRect">
            <a:avLst>
              <a:gd name="adj" fmla="val 5000"/>
            </a:avLst>
          </a:prstGeom>
          <a:solidFill>
            <a:srgbClr val="E3F2F3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296912" y="23317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7296912" y="2606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PR0 – PR8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7296912" y="288036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predator get past shells, spines, tubes or burrows?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57200" y="393192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2A541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512064" y="3931920"/>
            <a:ext cx="811987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trait pair gives a probability of feeding. The least favourable one sets the link probability, and links above the threshold (default 0.05, adjustable) are kept.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E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trait data come from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are chosen by taxonomic group; the cheapest source is tried first</a:t>
            </a:r>
            <a:endParaRPr lang="en-US" sz="1300" dirty="0"/>
          </a:p>
        </p:txBody>
      </p:sp>
      <p:pic>
        <p:nvPicPr>
          <p:cNvPr id="4" name="Image 0" descr="MARBEF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28600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258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E3F2F3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481328"/>
            <a:ext cx="237744" cy="23774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32688" y="1435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FishBase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3258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4F9FA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83280" y="1481328"/>
            <a:ext cx="237744" cy="237744"/>
          </a:xfrm>
          <a:prstGeom prst="ellipse">
            <a:avLst/>
          </a:prstGeom>
          <a:solidFill>
            <a:srgbClr val="13A3A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21608" y="1435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Benthic invertebrates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721608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SeaLifeBase · BIOTIC · PolyTraits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4231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E3F2F3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2578608"/>
            <a:ext cx="237744" cy="23774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32688" y="25328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Zooplankton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MAREDAT · SeaLifeBase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46120" y="24231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4F9FA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83280" y="2578608"/>
            <a:ext cx="237744" cy="237744"/>
          </a:xfrm>
          <a:prstGeom prst="ellipse">
            <a:avLst/>
          </a:prstGeom>
          <a:solidFill>
            <a:srgbClr val="8FCFD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721608" y="25328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Phytoplankton and algae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721608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PTDB · BVOL biovolumes · AlgaeBase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52044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E3F2F3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4360" y="3675888"/>
            <a:ext cx="237744" cy="237744"/>
          </a:xfrm>
          <a:prstGeom prst="ellipse">
            <a:avLst/>
          </a:prstGeom>
          <a:solidFill>
            <a:srgbClr val="173E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32688" y="3630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Freshwater and brackish taxa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32688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freshwaterecology.info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46120" y="352044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4F9FA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83280" y="3675888"/>
            <a:ext cx="237744" cy="237744"/>
          </a:xfrm>
          <a:prstGeom prst="ellipse">
            <a:avLst/>
          </a:prstGeom>
          <a:solidFill>
            <a:srgbClr val="7A8C99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721608" y="3630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groups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3721608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WoRMS · regional trait sets · OBIS · EMODnet · TraitBank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172200" y="132588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73E6C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227064" y="1325880"/>
            <a:ext cx="240487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trait database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3,600 species pre-compiled from these sources, so most lookups are instant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172200" y="26517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2A54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227064" y="2651760"/>
            <a:ext cx="240487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has a confidence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· low · medium · high, so you can see how sure each value is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172200" y="374904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227064" y="3749040"/>
            <a:ext cx="240487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in control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correct the trait table before the web is built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E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webs across the seascape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Analysis: one regional metaweb, cut into local food webs</a:t>
            </a:r>
            <a:endParaRPr lang="en-US" sz="1300" dirty="0"/>
          </a:p>
        </p:txBody>
      </p:sp>
      <p:pic>
        <p:nvPicPr>
          <p:cNvPr id="4" name="Image 0" descr="MARBEF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28600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2588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325880"/>
            <a:ext cx="199339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polygon, or a MARBEFES Broad Belt Transect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560320" y="1682496"/>
            <a:ext cx="365760" cy="1060704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57200" y="2176272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" y="2176272"/>
            <a:ext cx="199339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Seabed habitats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EMODnet EUSeaMap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560320" y="2532888"/>
            <a:ext cx="365760" cy="210312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57200" y="3026664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12064" y="3026664"/>
            <a:ext cx="199339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records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 table (CSV)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 flipV="1">
            <a:off x="2560320" y="2743200"/>
            <a:ext cx="365760" cy="640080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57200" y="3877056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173E6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12064" y="3877056"/>
            <a:ext cx="199339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metaweb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feeding links known for the region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 flipV="1">
            <a:off x="2560320" y="2743200"/>
            <a:ext cx="365760" cy="1490472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971800" y="1828800"/>
            <a:ext cx="457200" cy="402336"/>
          </a:xfrm>
          <a:prstGeom prst="hexagon">
            <a:avLst/>
          </a:prstGeom>
          <a:solidFill>
            <a:srgbClr val="9FD3D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971800" y="2231136"/>
            <a:ext cx="457200" cy="402336"/>
          </a:xfrm>
          <a:prstGeom prst="hexagon">
            <a:avLst/>
          </a:prstGeom>
          <a:solidFill>
            <a:srgbClr val="13A3A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971800" y="2633472"/>
            <a:ext cx="457200" cy="402336"/>
          </a:xfrm>
          <a:prstGeom prst="hexagon">
            <a:avLst/>
          </a:prstGeom>
          <a:solidFill>
            <a:srgbClr val="9FD3D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71800" y="3035808"/>
            <a:ext cx="457200" cy="402336"/>
          </a:xfrm>
          <a:prstGeom prst="hexagon">
            <a:avLst/>
          </a:prstGeom>
          <a:solidFill>
            <a:srgbClr val="13A3A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14700" y="2029968"/>
            <a:ext cx="457200" cy="402336"/>
          </a:xfrm>
          <a:prstGeom prst="hexagon">
            <a:avLst/>
          </a:prstGeom>
          <a:solidFill>
            <a:srgbClr val="7FC4C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14700" y="2432304"/>
            <a:ext cx="457200" cy="402336"/>
          </a:xfrm>
          <a:prstGeom prst="hexagon">
            <a:avLst/>
          </a:prstGeom>
          <a:solidFill>
            <a:srgbClr val="13A3A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14700" y="2834640"/>
            <a:ext cx="457200" cy="402336"/>
          </a:xfrm>
          <a:prstGeom prst="hexagon">
            <a:avLst/>
          </a:prstGeom>
          <a:solidFill>
            <a:srgbClr val="C8E7E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314700" y="3236976"/>
            <a:ext cx="457200" cy="402336"/>
          </a:xfrm>
          <a:prstGeom prst="hexagon">
            <a:avLst/>
          </a:prstGeom>
          <a:solidFill>
            <a:srgbClr val="C8E7E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57600" y="1828800"/>
            <a:ext cx="457200" cy="402336"/>
          </a:xfrm>
          <a:prstGeom prst="hexagon">
            <a:avLst/>
          </a:prstGeom>
          <a:solidFill>
            <a:srgbClr val="13A3A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57600" y="2231136"/>
            <a:ext cx="457200" cy="402336"/>
          </a:xfrm>
          <a:prstGeom prst="hexagon">
            <a:avLst/>
          </a:prstGeom>
          <a:solidFill>
            <a:srgbClr val="13A3A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57600" y="2633472"/>
            <a:ext cx="457200" cy="402336"/>
          </a:xfrm>
          <a:prstGeom prst="hexagon">
            <a:avLst/>
          </a:prstGeom>
          <a:solidFill>
            <a:srgbClr val="7FC4C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657600" y="3035808"/>
            <a:ext cx="457200" cy="402336"/>
          </a:xfrm>
          <a:prstGeom prst="hexagon">
            <a:avLst/>
          </a:prstGeom>
          <a:solidFill>
            <a:srgbClr val="9FD3D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000500" y="2029968"/>
            <a:ext cx="457200" cy="402336"/>
          </a:xfrm>
          <a:prstGeom prst="hexagon">
            <a:avLst/>
          </a:prstGeom>
          <a:solidFill>
            <a:srgbClr val="C8E7E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000500" y="2432304"/>
            <a:ext cx="457200" cy="402336"/>
          </a:xfrm>
          <a:prstGeom prst="hexagon">
            <a:avLst/>
          </a:prstGeom>
          <a:solidFill>
            <a:srgbClr val="7FC4C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000500" y="2834640"/>
            <a:ext cx="457200" cy="402336"/>
          </a:xfrm>
          <a:prstGeom prst="hexagon">
            <a:avLst/>
          </a:prstGeom>
          <a:solidFill>
            <a:srgbClr val="C8E7E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000500" y="3236976"/>
            <a:ext cx="457200" cy="402336"/>
          </a:xfrm>
          <a:prstGeom prst="hexagon">
            <a:avLst/>
          </a:prstGeom>
          <a:solidFill>
            <a:srgbClr val="7FC4C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43400" y="1828800"/>
            <a:ext cx="457200" cy="402336"/>
          </a:xfrm>
          <a:prstGeom prst="hexagon">
            <a:avLst/>
          </a:prstGeom>
          <a:solidFill>
            <a:srgbClr val="9FD3D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343400" y="2231136"/>
            <a:ext cx="457200" cy="402336"/>
          </a:xfrm>
          <a:prstGeom prst="hexagon">
            <a:avLst/>
          </a:prstGeom>
          <a:solidFill>
            <a:srgbClr val="7FC4C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343400" y="2633472"/>
            <a:ext cx="457200" cy="402336"/>
          </a:xfrm>
          <a:prstGeom prst="hexagon">
            <a:avLst/>
          </a:prstGeom>
          <a:solidFill>
            <a:srgbClr val="13A3A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43400" y="3035808"/>
            <a:ext cx="457200" cy="402336"/>
          </a:xfrm>
          <a:prstGeom prst="hexagon">
            <a:avLst/>
          </a:prstGeom>
          <a:solidFill>
            <a:srgbClr val="13A3A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926080" y="3703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cells with habitat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892040" y="2743200"/>
            <a:ext cx="1097280" cy="91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39" name="Text 36"/>
          <p:cNvSpPr txBox="1"/>
          <p:nvPr/>
        </p:nvSpPr>
        <p:spPr>
          <a:xfrm>
            <a:off x="4846320" y="2240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food web per cell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126480" y="1828800"/>
            <a:ext cx="457200" cy="402336"/>
          </a:xfrm>
          <a:prstGeom prst="hexagon">
            <a:avLst/>
          </a:prstGeom>
          <a:solidFill>
            <a:srgbClr val="E3F2F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126480" y="2231136"/>
            <a:ext cx="457200" cy="402336"/>
          </a:xfrm>
          <a:prstGeom prst="hexagon">
            <a:avLst/>
          </a:prstGeom>
          <a:solidFill>
            <a:srgbClr val="4FB0B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126480" y="2633472"/>
            <a:ext cx="457200" cy="402336"/>
          </a:xfrm>
          <a:prstGeom prst="hexagon">
            <a:avLst/>
          </a:prstGeom>
          <a:solidFill>
            <a:srgbClr val="173E6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126480" y="3035808"/>
            <a:ext cx="457200" cy="402336"/>
          </a:xfrm>
          <a:prstGeom prst="hexagon">
            <a:avLst/>
          </a:prstGeom>
          <a:solidFill>
            <a:srgbClr val="9FD3D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469380" y="2029968"/>
            <a:ext cx="457200" cy="402336"/>
          </a:xfrm>
          <a:prstGeom prst="hexagon">
            <a:avLst/>
          </a:prstGeom>
          <a:solidFill>
            <a:srgbClr val="0E7C8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69380" y="2432304"/>
            <a:ext cx="457200" cy="402336"/>
          </a:xfrm>
          <a:prstGeom prst="hexagon">
            <a:avLst/>
          </a:prstGeom>
          <a:solidFill>
            <a:srgbClr val="9FD3D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469380" y="2834640"/>
            <a:ext cx="457200" cy="402336"/>
          </a:xfrm>
          <a:prstGeom prst="hexagon">
            <a:avLst/>
          </a:prstGeom>
          <a:solidFill>
            <a:srgbClr val="173E6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469380" y="3236976"/>
            <a:ext cx="457200" cy="402336"/>
          </a:xfrm>
          <a:prstGeom prst="hexagon">
            <a:avLst/>
          </a:prstGeom>
          <a:solidFill>
            <a:srgbClr val="173E6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812280" y="1828800"/>
            <a:ext cx="457200" cy="402336"/>
          </a:xfrm>
          <a:prstGeom prst="hexagon">
            <a:avLst/>
          </a:prstGeom>
          <a:solidFill>
            <a:srgbClr val="9FD3D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812280" y="2231136"/>
            <a:ext cx="457200" cy="402336"/>
          </a:xfrm>
          <a:prstGeom prst="hexagon">
            <a:avLst/>
          </a:prstGeom>
          <a:solidFill>
            <a:srgbClr val="E3F2F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812280" y="2633472"/>
            <a:ext cx="457200" cy="402336"/>
          </a:xfrm>
          <a:prstGeom prst="hexagon">
            <a:avLst/>
          </a:prstGeom>
          <a:solidFill>
            <a:srgbClr val="9FD3D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812280" y="3035808"/>
            <a:ext cx="457200" cy="402336"/>
          </a:xfrm>
          <a:prstGeom prst="hexagon">
            <a:avLst/>
          </a:prstGeom>
          <a:solidFill>
            <a:srgbClr val="4FB0B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155180" y="2029968"/>
            <a:ext cx="457200" cy="402336"/>
          </a:xfrm>
          <a:prstGeom prst="hexagon">
            <a:avLst/>
          </a:prstGeom>
          <a:solidFill>
            <a:srgbClr val="173E6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155180" y="2432304"/>
            <a:ext cx="457200" cy="402336"/>
          </a:xfrm>
          <a:prstGeom prst="hexagon">
            <a:avLst/>
          </a:prstGeom>
          <a:solidFill>
            <a:srgbClr val="9FD3D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155180" y="2834640"/>
            <a:ext cx="457200" cy="402336"/>
          </a:xfrm>
          <a:prstGeom prst="hexagon">
            <a:avLst/>
          </a:prstGeom>
          <a:solidFill>
            <a:srgbClr val="0E7C8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155180" y="3236976"/>
            <a:ext cx="457200" cy="402336"/>
          </a:xfrm>
          <a:prstGeom prst="hexagon">
            <a:avLst/>
          </a:prstGeom>
          <a:solidFill>
            <a:srgbClr val="E3F2F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498080" y="1828800"/>
            <a:ext cx="457200" cy="402336"/>
          </a:xfrm>
          <a:prstGeom prst="hexagon">
            <a:avLst/>
          </a:prstGeom>
          <a:solidFill>
            <a:srgbClr val="4FB0B8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498080" y="2231136"/>
            <a:ext cx="457200" cy="402336"/>
          </a:xfrm>
          <a:prstGeom prst="hexagon">
            <a:avLst/>
          </a:prstGeom>
          <a:solidFill>
            <a:srgbClr val="E3F2F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498080" y="2633472"/>
            <a:ext cx="457200" cy="402336"/>
          </a:xfrm>
          <a:prstGeom prst="hexagon">
            <a:avLst/>
          </a:prstGeom>
          <a:solidFill>
            <a:srgbClr val="0E7C8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498080" y="3035808"/>
            <a:ext cx="457200" cy="402336"/>
          </a:xfrm>
          <a:prstGeom prst="hexagon">
            <a:avLst/>
          </a:prstGeom>
          <a:solidFill>
            <a:srgbClr val="0E7C8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6080760" y="3703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connectance per cell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8183880" y="3246120"/>
            <a:ext cx="228600" cy="320040"/>
          </a:xfrm>
          <a:prstGeom prst="rect">
            <a:avLst/>
          </a:prstGeom>
          <a:solidFill>
            <a:srgbClr val="E3F2F3"/>
          </a:solidFill>
          <a:ln/>
        </p:spPr>
      </p:sp>
      <p:sp>
        <p:nvSpPr>
          <p:cNvPr id="62" name="Shape 59"/>
          <p:cNvSpPr/>
          <p:nvPr/>
        </p:nvSpPr>
        <p:spPr>
          <a:xfrm>
            <a:off x="8183880" y="2926080"/>
            <a:ext cx="228600" cy="320040"/>
          </a:xfrm>
          <a:prstGeom prst="rect">
            <a:avLst/>
          </a:prstGeom>
          <a:solidFill>
            <a:srgbClr val="9FD3D8"/>
          </a:solidFill>
          <a:ln/>
        </p:spPr>
      </p:sp>
      <p:sp>
        <p:nvSpPr>
          <p:cNvPr id="63" name="Shape 60"/>
          <p:cNvSpPr/>
          <p:nvPr/>
        </p:nvSpPr>
        <p:spPr>
          <a:xfrm>
            <a:off x="8183880" y="2606040"/>
            <a:ext cx="228600" cy="320040"/>
          </a:xfrm>
          <a:prstGeom prst="rect">
            <a:avLst/>
          </a:prstGeom>
          <a:solidFill>
            <a:srgbClr val="4FB0B8"/>
          </a:solidFill>
          <a:ln/>
        </p:spPr>
      </p:sp>
      <p:sp>
        <p:nvSpPr>
          <p:cNvPr id="64" name="Shape 61"/>
          <p:cNvSpPr/>
          <p:nvPr/>
        </p:nvSpPr>
        <p:spPr>
          <a:xfrm>
            <a:off x="8183880" y="2286000"/>
            <a:ext cx="228600" cy="320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5" name="Shape 62"/>
          <p:cNvSpPr/>
          <p:nvPr/>
        </p:nvSpPr>
        <p:spPr>
          <a:xfrm>
            <a:off x="8183880" y="1965960"/>
            <a:ext cx="228600" cy="320040"/>
          </a:xfrm>
          <a:prstGeom prst="rect">
            <a:avLst/>
          </a:prstGeom>
          <a:solidFill>
            <a:srgbClr val="173E6C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8458200" y="19385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67" name="Text 64"/>
          <p:cNvSpPr txBox="1"/>
          <p:nvPr/>
        </p:nvSpPr>
        <p:spPr>
          <a:xfrm>
            <a:off x="8458200" y="33832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926080" y="4069080"/>
            <a:ext cx="5760720" cy="685800"/>
          </a:xfrm>
          <a:prstGeom prst="roundRect">
            <a:avLst>
              <a:gd name="adj" fmla="val 10667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2980944" y="4069080"/>
            <a:ext cx="565099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keeps only the metaweb links whose predator and prey both occur there. Per cell: species (S), links (L), connectance (C), link density (LD).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E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fishing changes?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ECOPATH / ECOSIM: mass-balance models and simulations (Rpath)</a:t>
            </a:r>
            <a:endParaRPr lang="en-US" sz="1300" dirty="0"/>
          </a:p>
        </p:txBody>
      </p:sp>
      <p:pic>
        <p:nvPicPr>
          <p:cNvPr id="4" name="Image 0" descr="MARBEF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28600"/>
            <a:ext cx="566928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7160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0E7C8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12064" y="1371600"/>
            <a:ext cx="226771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model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EwE file, or a published model from EcoBase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47472" y="1243584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47472" y="1243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34640" y="1847088"/>
            <a:ext cx="54864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383280" y="137160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0E7C8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38144" y="1371600"/>
            <a:ext cx="226771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mass balance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each group's production enough for predation, fishing and other losses?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273552" y="1243584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273552" y="1243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60720" y="1847088"/>
            <a:ext cx="54864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309360" y="137160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2A54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364224" y="1371600"/>
            <a:ext cx="226771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model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biomass, production, consumption and trophic level for every group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99632" y="1243584"/>
            <a:ext cx="310896" cy="310896"/>
          </a:xfrm>
          <a:prstGeom prst="ellipse">
            <a:avLst/>
          </a:prstGeom>
          <a:solidFill>
            <a:srgbClr val="173E6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199632" y="1243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88036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0E7C8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12064" y="2880360"/>
            <a:ext cx="226771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trophic impacts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and indirect effects of each group on the others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347472" y="2752344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47472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834640" y="3355848"/>
            <a:ext cx="54864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383280" y="288036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0E7C8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438144" y="2880360"/>
            <a:ext cx="226771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scenario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fishing effort or environmental forcing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3273552" y="2752344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273552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760720" y="3355848"/>
            <a:ext cx="54864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6309360" y="288036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0E7C86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364224" y="2880360"/>
            <a:ext cx="226771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over time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Ecosim projects biomass and catch year by year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199632" y="2752344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199632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498080" y="2331720"/>
            <a:ext cx="91" cy="27432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flipH="1">
            <a:off x="1645920" y="2606040"/>
            <a:ext cx="585216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645920" y="2606040"/>
            <a:ext cx="91" cy="27432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36" name="Text 33"/>
          <p:cNvSpPr txBox="1"/>
          <p:nvPr/>
        </p:nvSpPr>
        <p:spPr>
          <a:xfrm>
            <a:off x="457200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57200" y="4297680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12064" y="4297680"/>
            <a:ext cx="181051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 trajectories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2560320" y="4297680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615184" y="4297680"/>
            <a:ext cx="181051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trajectories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663440" y="4297680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718304" y="4297680"/>
            <a:ext cx="181051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comparison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766560" y="4297680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21424" y="4297680"/>
            <a:ext cx="181051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against ICES surveys &amp; stock assessments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E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Ready-made regional data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published food webs and monitoring data</a:t>
            </a:r>
            <a:endParaRPr lang="en-US" sz="1300" dirty="0"/>
          </a:p>
        </p:txBody>
      </p:sp>
      <p:pic>
        <p:nvPicPr>
          <p:cNvPr id="4" name="Image 0" descr="MARBEF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28600"/>
            <a:ext cx="566928" cy="5669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METAWEBS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3F2F3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645920"/>
            <a:ext cx="384048" cy="329184"/>
          </a:xfrm>
          <a:prstGeom prst="hexagon">
            <a:avLst/>
          </a:prstGeom>
          <a:solidFill>
            <a:srgbClr val="0E7C8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Baltic Sea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Kortsch et al. 2021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60320" y="15087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4F9FA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97480" y="1645920"/>
            <a:ext cx="384048" cy="329184"/>
          </a:xfrm>
          <a:prstGeom prst="hexagon">
            <a:avLst/>
          </a:prstGeom>
          <a:solidFill>
            <a:srgbClr val="13A3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69748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Sea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269748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Frelat et al. 2022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63440" y="15087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3F2F3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00600" y="1645920"/>
            <a:ext cx="384048" cy="329184"/>
          </a:xfrm>
          <a:prstGeom prst="hexagon">
            <a:avLst/>
          </a:prstGeom>
          <a:solidFill>
            <a:srgbClr val="173E6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80060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Kongsfjorden, Svalbard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480060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Farage et al. 2021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766560" y="15087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4F9FA"/>
          </a:solidFill>
          <a:ln w="9525">
            <a:solidFill>
              <a:srgbClr val="C9DE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03720" y="1645920"/>
            <a:ext cx="384048" cy="329184"/>
          </a:xfrm>
          <a:prstGeom prst="hexagon">
            <a:avLst/>
          </a:prstGeom>
          <a:solidFill>
            <a:srgbClr val="8FCFD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90372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Barents Sea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Kortsch et al. 2015 · Arctic and boreal webs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AND MONITORING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" y="320040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2A54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12064" y="3200400"/>
            <a:ext cx="249631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of Riga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food web, loaded when the app opens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268980" y="320040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0E7C86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323844" y="3200400"/>
            <a:ext cx="249631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EcoBase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Ecopath with Ecosim models from around the world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080760" y="320040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173E6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135624" y="3200400"/>
            <a:ext cx="249631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Swedish national marine monitoring (SMHI): plankton, benthos, water chemistry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3E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EcoNeTool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laguna.ku.lt/EcoNeTool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in a web browser; nothing to install. Start with the built-in Gulf of Riga food web, then bring your own data.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9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MARBEFES has received funding from the European Union's Horizon Europe research and innovation programme under grant agreement No 101060937.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0" y="1005840"/>
            <a:ext cx="2743200" cy="2743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MARBEF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28016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Klaipeda University - MARBEFES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EcoNeTool - food web workflows for marine ecologists</dc:title>
  <dc:subject>PptxGenJS Presentation</dc:subject>
  <dc:creator>PptxGenJS</dc:creator>
  <cp:lastModifiedBy>PptxGenJS</cp:lastModifiedBy>
  <cp:revision>1</cp:revision>
  <dcterms:created xsi:type="dcterms:W3CDTF">2026-10-01T05:40:11Z</dcterms:created>
  <dcterms:modified xsi:type="dcterms:W3CDTF">2026-10-01T05:40:11Z</dcterms:modified>
</cp:coreProperties>
</file>